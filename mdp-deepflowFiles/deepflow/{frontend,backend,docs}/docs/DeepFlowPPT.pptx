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875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-1371600"/>
            <a:ext cx="6400800" cy="6400800"/>
          </a:xfrm>
          <a:prstGeom prst="ellipse">
            <a:avLst/>
          </a:prstGeom>
          <a:solidFill>
            <a:srgbClr val="1A2A6C">
              <a:alpha val="22000"/>
            </a:srgbClr>
          </a:solidFill>
          <a:ln w="12700">
            <a:solidFill>
              <a:srgbClr val="1A2A6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82880"/>
            <a:ext cx="3657600" cy="3657600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PROJECT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12801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1400" dirty="0">
                <a:solidFill>
                  <a:srgbClr val="F0D080"/>
                </a:solidFill>
                <a:effectLst>
                  <a:glow rad="101600">
                    <a:srgbClr val="C9A84C">
                      <a:alpha val="60000"/>
                    </a:srgbClr>
                  </a:glo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DEEP FLOW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0" y="2423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DDE3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OS  ·  Flow State Engine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digital noise · Socratic AI tutoring · Biometric focus tracking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383280"/>
            <a:ext cx="2743200" cy="18288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70332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1A2030"/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721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 AI Tutoring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370332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1A2030"/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721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Biometrics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370332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1A2030"/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721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Gamification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Flow Team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DE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students face a broken study environment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108960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Noise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social feeds and tabs compete for attention, fragmenting focus constantly.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651760" cy="3108960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17320"/>
            <a:ext cx="54864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56432" y="2176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Passive AI 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56432" y="25603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use AI to get answers, bypassing the struggle that builds real understanding.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417320"/>
            <a:ext cx="2651760" cy="3108960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417320"/>
            <a:ext cx="54864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~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72784" y="2176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Feedback Loop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72784" y="25603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sessions have no real-time signal — fatigue and drift go undetected until it's too late.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a study environment designed around the brain, not despite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DE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Flow — 5 Interlocking Systems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691640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904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801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⬡ Quest Log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194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Skill-tree checklist — nodes light up as you progress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1325880"/>
            <a:ext cx="2651760" cy="1691640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325880"/>
            <a:ext cx="2651760" cy="36576"/>
          </a:xfrm>
          <a:prstGeom prst="rect">
            <a:avLst/>
          </a:prstGeom>
          <a:solidFill>
            <a:srgbClr val="38D9B0"/>
          </a:solidFill>
          <a:ln w="12700">
            <a:solidFill>
              <a:srgbClr val="38D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14904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38144" y="1801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Reward 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2194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Biomes + Artifacts unlocked via Focus Hours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1325880"/>
            <a:ext cx="2651760" cy="1691640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325880"/>
            <a:ext cx="2651760" cy="36576"/>
          </a:xfrm>
          <a:prstGeom prst="rect">
            <a:avLst/>
          </a:prstGeom>
          <a:solidFill>
            <a:srgbClr val="4A8FFF"/>
          </a:solidFill>
          <a:ln w="12700">
            <a:solidFill>
              <a:srgbClr val="4A8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4904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54496" y="1801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 Socratic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2194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that guides, never answers — plus anxiety RAM dump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17320" y="3337560"/>
            <a:ext cx="3017520" cy="1691640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17320" y="3337560"/>
            <a:ext cx="3017520" cy="36576"/>
          </a:xfrm>
          <a:prstGeom prst="rect">
            <a:avLst/>
          </a:prstGeom>
          <a:solidFill>
            <a:srgbClr val="9B6FFF"/>
          </a:solidFill>
          <a:ln w="12700">
            <a:solidFill>
              <a:srgbClr val="9B6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81912" y="350215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81912" y="3813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👻 Ghost Partner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81912" y="42062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Face-mimic avatar + Discord + Silent Library (WebRTC)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337560"/>
            <a:ext cx="3017520" cy="1691640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337560"/>
            <a:ext cx="301752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50215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3813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♪ Adaptive Sound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73752" y="42062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/ 40Hz Gamma — auto-shifts on drowsiness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01 &amp;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DE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 Log  ·  Reward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356616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4864" cy="3566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⬡  Quest Log — Skill Tree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broken into interactive Nodes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4231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constellation tree — nodes glow gold on completion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9260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edges light up as paths are completed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4290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passive to-do into a visual progression path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023360" cy="356616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54864" cy="3566160"/>
          </a:xfrm>
          <a:prstGeom prst="rect">
            <a:avLst/>
          </a:prstGeom>
          <a:solidFill>
            <a:srgbClr val="38D9B0"/>
          </a:solidFill>
          <a:ln w="12700">
            <a:solidFill>
              <a:srgbClr val="38D9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417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Reward System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56048" y="1883664"/>
            <a:ext cx="3566160" cy="137160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9933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Unlockable Biomes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3042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Hours unlock immersive environments: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→ Dark Forest → Rainy Tokyo Café → Hogwarts Library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Contributor-open store for community biomes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56048" y="3337560"/>
            <a:ext cx="3566160" cy="128016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4472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  Artifact Collection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7673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 concept → unlock a digital Artifact on your virtual desk.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it plays a 30-second audio snippet: fun fact or quote.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DE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Socratic AI Tutor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5029200" cy="3566160"/>
          </a:xfrm>
          <a:prstGeom prst="rect">
            <a:avLst/>
          </a:prstGeom>
          <a:solidFill>
            <a:srgbClr val="070D1A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4173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AI Tutor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0F1E3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6537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a derivative represents geometrically?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3120" y="2340864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23774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of the tangent line?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0F1E3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895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Exactly. Now — how would you approximate it using two very close points?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3364992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5223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34015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using Δy / Δx as the points get closer together?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877056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0F1E3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9136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Perfect. And what happens mathematically as Δx → 0?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1325880"/>
            <a:ext cx="3200400" cy="768096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42432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13807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Answers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6550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guiding question at a time. Tiny hints only after repeated struggle.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2212848"/>
            <a:ext cx="3200400" cy="768096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42432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22677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25420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silently tracks concepts the student hesitates on during chat.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3099816"/>
            <a:ext cx="3200400" cy="768096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42432" y="3191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End-of-Session Quiz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429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targeted questions from detected weak points.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3986784"/>
            <a:ext cx="3200400" cy="768096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42432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2200" y="4041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RAM Dump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43159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Pre-study anxiety dump — LLM summarises and safely stores concerns.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B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04 &amp;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DE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Ghost Partner  ·  Adaptive Soundscape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356616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4864" cy="3566160"/>
          </a:xfrm>
          <a:prstGeom prst="rect">
            <a:avLst/>
          </a:prstGeom>
          <a:solidFill>
            <a:srgbClr val="9B6FFF"/>
          </a:solidFill>
          <a:ln w="12700">
            <a:solidFill>
              <a:srgbClr val="9B6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B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👻  Ghost Study Partner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3657600" cy="603504"/>
          </a:xfrm>
          <a:prstGeom prst="rect">
            <a:avLst/>
          </a:prstGeom>
          <a:solidFill>
            <a:srgbClr val="101825"/>
          </a:solidFill>
          <a:ln w="12700">
            <a:solidFill>
              <a:srgbClr val="1E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7510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Ghost Avatar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945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 on screen, animates when user reads, goes idle when user looks away — powered by face tracking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633472"/>
            <a:ext cx="3657600" cy="603504"/>
          </a:xfrm>
          <a:prstGeom prst="rect">
            <a:avLst/>
          </a:prstGeom>
          <a:solidFill>
            <a:srgbClr val="101825"/>
          </a:solidFill>
          <a:ln w="12700">
            <a:solidFill>
              <a:srgbClr val="1E2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883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Partner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9077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creates a private, auto-deleting Discord voice channel for timed co-study sessions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346704"/>
            <a:ext cx="3657600" cy="603504"/>
          </a:xfrm>
          <a:prstGeom prst="rect">
            <a:avLst/>
          </a:prstGeom>
          <a:solidFill>
            <a:srgbClr val="101825"/>
          </a:solidFill>
          <a:ln w="12700">
            <a:solidFill>
              <a:srgbClr val="1E2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015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Help Button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6210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Auto-drafts a formatted r/HomeworkHelp post with current problem + focus stats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059936"/>
            <a:ext cx="3657600" cy="603504"/>
          </a:xfrm>
          <a:prstGeom prst="rect">
            <a:avLst/>
          </a:prstGeom>
          <a:solidFill>
            <a:srgbClr val="101825"/>
          </a:solidFill>
          <a:ln w="12700">
            <a:solidFill>
              <a:srgbClr val="1E2E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1148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Library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3342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peer video — microphones permanently muted. Pure visual accountability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023360" cy="356616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80160"/>
            <a:ext cx="54864" cy="3566160"/>
          </a:xfrm>
          <a:prstGeom prst="rect">
            <a:avLst/>
          </a:prstGeom>
          <a:solidFill>
            <a:srgbClr val="38D9B0"/>
          </a:solidFill>
          <a:ln w="12700">
            <a:solidFill>
              <a:srgbClr val="38D9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♪  Adaptive Soundscape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56048" y="1883664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0A1820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(EAR)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258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= (‖p₁–p₅‖ + ‖p₂–p₄‖) / 2‖p₀–p₃‖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5328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&lt; 0.22 for 25+ frames → Drowsy Event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56048" y="2907792"/>
            <a:ext cx="3566160" cy="502920"/>
          </a:xfrm>
          <a:prstGeom prst="rect">
            <a:avLst/>
          </a:prstGeom>
          <a:solidFill>
            <a:srgbClr val="0A1820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9626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Lo-Fi Mode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31821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harmonic oscillators E2→C4 with LFO tremolo — warm and calm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56048" y="3529584"/>
            <a:ext cx="3566160" cy="502920"/>
          </a:xfrm>
          <a:prstGeom prst="rect">
            <a:avLst/>
          </a:prstGeom>
          <a:solidFill>
            <a:srgbClr val="0A1820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58444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40Hz Gamma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8039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Amplitude-modulated carrier — cognitive entrainment for deep focus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56048" y="4151376"/>
            <a:ext cx="3566160" cy="502920"/>
          </a:xfrm>
          <a:prstGeom prst="rect">
            <a:avLst/>
          </a:prstGeom>
          <a:solidFill>
            <a:srgbClr val="0A1820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42062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Drowsy Response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38928" y="44256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+70%, frequencies +10% — auto-shift to promote alertness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DE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Tech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011680" cy="352044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 / CSS / JS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React 18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1455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WASM (GPU)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1325880"/>
            <a:ext cx="2011680" cy="352044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25880"/>
            <a:ext cx="2011680" cy="36576"/>
          </a:xfrm>
          <a:prstGeom prst="rect">
            <a:avLst/>
          </a:prstGeom>
          <a:solidFill>
            <a:srgbClr val="4A8FFF"/>
          </a:solidFill>
          <a:ln w="12700">
            <a:solidFill>
              <a:srgbClr val="4A8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4447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8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19019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252374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51760" y="31455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Gemini 2.0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2011680" cy="352044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25880"/>
            <a:ext cx="2011680" cy="36576"/>
          </a:xfrm>
          <a:prstGeom prst="rect">
            <a:avLst/>
          </a:prstGeom>
          <a:solidFill>
            <a:srgbClr val="9B6FFF"/>
          </a:solidFill>
          <a:ln w="12700">
            <a:solidFill>
              <a:srgbClr val="9B6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447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6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9019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Flash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52374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MemorySaver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1455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prompt chain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 memory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1325880"/>
            <a:ext cx="2011680" cy="352044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325880"/>
            <a:ext cx="2011680" cy="36576"/>
          </a:xfrm>
          <a:prstGeom prst="rect">
            <a:avLst/>
          </a:prstGeom>
          <a:solidFill>
            <a:srgbClr val="38D9B0"/>
          </a:solidFill>
          <a:ln w="12700">
            <a:solidFill>
              <a:srgbClr val="38D9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4447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19019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No-build frontend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49440" y="252374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 server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0" y="31455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(Silent Library)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4944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Bot API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1E2A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(HTML)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389888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22576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/chat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55264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87952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20640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53328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86016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18704" y="4645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DE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Intent to Reward — in 6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06040" cy="160020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606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490472"/>
            <a:ext cx="347472" cy="347472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Intent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goal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"Master Thermodynamics"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06040" cy="160020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606040" cy="36576"/>
          </a:xfrm>
          <a:prstGeom prst="rect">
            <a:avLst/>
          </a:prstGeom>
          <a:solidFill>
            <a:srgbClr val="4A8FFF"/>
          </a:solidFill>
          <a:ln w="12700">
            <a:solidFill>
              <a:srgbClr val="4A8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490472"/>
            <a:ext cx="347472" cy="347472"/>
          </a:xfrm>
          <a:prstGeom prst="ellipse">
            <a:avLst/>
          </a:prstGeom>
          <a:solidFill>
            <a:srgbClr val="4A8FFF">
              <a:alpha val="20000"/>
            </a:srgbClr>
          </a:solidFill>
          <a:ln w="12700">
            <a:solidFill>
              <a:srgbClr val="4A8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 Setup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generates Quest 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vibe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606040" cy="160020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325880"/>
            <a:ext cx="2606040" cy="36576"/>
          </a:xfrm>
          <a:prstGeom prst="rect">
            <a:avLst/>
          </a:prstGeom>
          <a:solidFill>
            <a:srgbClr val="9B6FFF"/>
          </a:solidFill>
          <a:ln w="12700">
            <a:solidFill>
              <a:srgbClr val="9B6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1490472"/>
            <a:ext cx="347472" cy="347472"/>
          </a:xfrm>
          <a:prstGeom prst="ellipse">
            <a:avLst/>
          </a:prstGeom>
          <a:solidFill>
            <a:srgbClr val="9B6FFF">
              <a:alpha val="20000"/>
            </a:srgbClr>
          </a:solidFill>
          <a:ln w="12700">
            <a:solidFill>
              <a:srgbClr val="9B6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Immersion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90488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mode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monitor starts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2606040" cy="160020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46120"/>
            <a:ext cx="2606040" cy="36576"/>
          </a:xfrm>
          <a:prstGeom prst="rect">
            <a:avLst/>
          </a:prstGeom>
          <a:solidFill>
            <a:srgbClr val="38D9B0"/>
          </a:solidFill>
          <a:ln w="12700">
            <a:solidFill>
              <a:srgbClr val="38D9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" y="3410712"/>
            <a:ext cx="347472" cy="347472"/>
          </a:xfrm>
          <a:prstGeom prst="ellipse">
            <a:avLst/>
          </a:prstGeom>
          <a:solidFill>
            <a:srgbClr val="38D9B0">
              <a:alpha val="20000"/>
            </a:srgbClr>
          </a:solidFill>
          <a:ln w="12700">
            <a:solidFill>
              <a:srgbClr val="38D9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Deep Work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" y="3886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Study, ask AI questions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nodes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3246120"/>
            <a:ext cx="2606040" cy="160020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246120"/>
            <a:ext cx="2606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3410712"/>
            <a:ext cx="347472" cy="347472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9476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Review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55848" y="3886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ends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weak-point quiz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3246120"/>
            <a:ext cx="2606040" cy="1600200"/>
          </a:xfrm>
          <a:prstGeom prst="rect">
            <a:avLst/>
          </a:prstGeom>
          <a:solidFill>
            <a:srgbClr val="080E1C"/>
          </a:solidFill>
          <a:ln w="12700">
            <a:solidFill>
              <a:srgbClr val="1E2A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246120"/>
            <a:ext cx="2606040" cy="36576"/>
          </a:xfrm>
          <a:prstGeom prst="rect">
            <a:avLst/>
          </a:prstGeom>
          <a:solidFill>
            <a:srgbClr val="38D9B0"/>
          </a:solidFill>
          <a:ln w="12700">
            <a:solidFill>
              <a:srgbClr val="38D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0488" y="3410712"/>
            <a:ext cx="347472" cy="347472"/>
          </a:xfrm>
          <a:prstGeom prst="ellipse">
            <a:avLst/>
          </a:prstGeom>
          <a:solidFill>
            <a:srgbClr val="38D9B0">
              <a:alpha val="20000"/>
            </a:srgbClr>
          </a:solidFill>
          <a:ln w="12700">
            <a:solidFill>
              <a:srgbClr val="38D9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2940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Reward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90488" y="3886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new Biome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next session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931920" y="3154680"/>
            <a:ext cx="1280160" cy="128016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32186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↓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2">
              <a:alpha val="70000"/>
            </a:srgbClr>
          </a:solidFill>
          <a:ln w="12700">
            <a:solidFill>
              <a:srgbClr val="0A0F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C9A84C">
              <a:alpha val="7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another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tool.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DE3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Flow is an operating system for the learning mind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DDE3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combining AI pedagogy, biometric feedback, and atmospheric design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DDE3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into a single, distraction-free environment.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4187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74720" y="4187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 (frontend)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035040" y="4187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Biomes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4663440"/>
            <a:ext cx="2743200" cy="18288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5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812</Words>
  <Application>Microsoft Office PowerPoint</Application>
  <PresentationFormat>On-screen Show (16:9)</PresentationFormat>
  <Paragraphs>173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Flow — Study OS</dc:title>
  <dc:subject>PptxGenJS Presentation</dc:subject>
  <dc:creator>Deep Flow Team</dc:creator>
  <cp:lastModifiedBy>Prithvi Raj Singha</cp:lastModifiedBy>
  <cp:revision>1</cp:revision>
  <dcterms:created xsi:type="dcterms:W3CDTF">2026-03-27T12:31:57Z</dcterms:created>
  <dcterms:modified xsi:type="dcterms:W3CDTF">2026-03-27T12:39:52Z</dcterms:modified>
</cp:coreProperties>
</file>